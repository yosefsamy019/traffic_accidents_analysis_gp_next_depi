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rts/chart1.xml" ContentType="application/vnd.openxmlformats-officedocument.drawingml.chart+xml"/>
  <Override PartName="/ppt/notesSlides/notesSlide29.xml" ContentType="application/vnd.openxmlformats-officedocument.presentationml.notesSlide+xml"/>
  <Override PartName="/ppt/charts/chart2.xml" ContentType="application/vnd.openxmlformats-officedocument.drawingml.chart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charts/chart3.xml" ContentType="application/vnd.openxmlformats-officedocument.drawingml.chart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81" r:id="rId10"/>
    <p:sldId id="264" r:id="rId11"/>
    <p:sldId id="265" r:id="rId12"/>
    <p:sldId id="266" r:id="rId13"/>
    <p:sldId id="267" r:id="rId14"/>
    <p:sldId id="282" r:id="rId15"/>
    <p:sldId id="283" r:id="rId16"/>
    <p:sldId id="284" r:id="rId17"/>
    <p:sldId id="285" r:id="rId18"/>
    <p:sldId id="286" r:id="rId19"/>
    <p:sldId id="287" r:id="rId20"/>
    <p:sldId id="288" r:id="rId21"/>
    <p:sldId id="289" r:id="rId22"/>
    <p:sldId id="290" r:id="rId23"/>
    <p:sldId id="291" r:id="rId24"/>
    <p:sldId id="292" r:id="rId25"/>
    <p:sldId id="293" r:id="rId26"/>
    <p:sldId id="268" r:id="rId27"/>
    <p:sldId id="269" r:id="rId28"/>
    <p:sldId id="270" r:id="rId29"/>
    <p:sldId id="271" r:id="rId30"/>
    <p:sldId id="272" r:id="rId31"/>
    <p:sldId id="273" r:id="rId32"/>
    <p:sldId id="274" r:id="rId33"/>
    <p:sldId id="275" r:id="rId34"/>
    <p:sldId id="276" r:id="rId35"/>
    <p:sldId id="277" r:id="rId36"/>
    <p:sldId id="280" r:id="rId37"/>
    <p:sldId id="279" r:id="rId3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Accidents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285-4D6A-BA3D-6D3BDD9E65D2}"/>
              </c:ext>
            </c:extLst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285-4D6A-BA3D-6D3BDD9E65D2}"/>
              </c:ext>
            </c:extLst>
          </c:dPt>
          <c:dPt>
            <c:idx val="2"/>
            <c:invertIfNegative val="0"/>
            <c:bubble3D val="0"/>
            <c:spPr>
              <a:solidFill>
                <a:srgbClr val="3C4A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285-4D6A-BA3D-6D3BDD9E65D2}"/>
              </c:ext>
            </c:extLst>
          </c:dPt>
          <c:dPt>
            <c:idx val="3"/>
            <c:invertIfNegative val="0"/>
            <c:bubble3D val="0"/>
            <c:spPr>
              <a:solidFill>
                <a:srgbClr val="D6455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285-4D6A-BA3D-6D3BDD9E65D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Severity 1</c:v>
                </c:pt>
                <c:pt idx="1">
                  <c:v>Severity 2</c:v>
                </c:pt>
                <c:pt idx="2">
                  <c:v>Severity 3</c:v>
                </c:pt>
                <c:pt idx="3">
                  <c:v>Severity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</c:v>
                </c:pt>
                <c:pt idx="1">
                  <c:v>13685</c:v>
                </c:pt>
                <c:pt idx="2">
                  <c:v>7479</c:v>
                </c:pt>
                <c:pt idx="3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285-4D6A-BA3D-6D3BDD9E65D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2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7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2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Accidents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IN</c:v>
                </c:pt>
                <c:pt idx="1">
                  <c:v>CT</c:v>
                </c:pt>
                <c:pt idx="2">
                  <c:v>FL</c:v>
                </c:pt>
                <c:pt idx="3">
                  <c:v>IA</c:v>
                </c:pt>
                <c:pt idx="4">
                  <c:v>MA</c:v>
                </c:pt>
                <c:pt idx="5">
                  <c:v>GA</c:v>
                </c:pt>
                <c:pt idx="6">
                  <c:v>IL</c:v>
                </c:pt>
                <c:pt idx="7">
                  <c:v>CA</c:v>
                </c:pt>
                <c:pt idx="8">
                  <c:v>MI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7</c:v>
                </c:pt>
                <c:pt idx="1">
                  <c:v>312</c:v>
                </c:pt>
                <c:pt idx="2">
                  <c:v>343</c:v>
                </c:pt>
                <c:pt idx="3">
                  <c:v>542</c:v>
                </c:pt>
                <c:pt idx="4">
                  <c:v>754</c:v>
                </c:pt>
                <c:pt idx="5">
                  <c:v>1003</c:v>
                </c:pt>
                <c:pt idx="6">
                  <c:v>3206</c:v>
                </c:pt>
                <c:pt idx="7">
                  <c:v>4256</c:v>
                </c:pt>
                <c:pt idx="8">
                  <c:v>5610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D5-45D1-9B0A-4FC8D5E5888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2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3E7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2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Accidents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137-40AB-893A-D956B6EF4B1D}"/>
              </c:ext>
            </c:extLst>
          </c:dPt>
          <c:dPt>
            <c:idx val="1"/>
            <c:invertIfNegative val="0"/>
            <c:bubble3D val="0"/>
            <c:spPr>
              <a:solidFill>
                <a:srgbClr val="D6455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137-40AB-893A-D956B6EF4B1D}"/>
              </c:ext>
            </c:extLst>
          </c:dPt>
          <c:dPt>
            <c:idx val="2"/>
            <c:invertIfNegative val="0"/>
            <c:bubble3D val="0"/>
            <c:spPr>
              <a:solidFill>
                <a:srgbClr val="3C4A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137-40AB-893A-D956B6EF4B1D}"/>
              </c:ext>
            </c:extLst>
          </c:dPt>
          <c:dPt>
            <c:idx val="3"/>
            <c:invertIfNegative val="0"/>
            <c:bubble3D val="0"/>
            <c:spPr>
              <a:solidFill>
                <a:srgbClr val="CADCF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137-40AB-893A-D956B6EF4B1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Morning</c:v>
                </c:pt>
                <c:pt idx="1">
                  <c:v>Afternoon</c:v>
                </c:pt>
                <c:pt idx="2">
                  <c:v>Evening</c:v>
                </c:pt>
                <c:pt idx="3">
                  <c:v>Night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9200</c:v>
                </c:pt>
                <c:pt idx="1">
                  <c:v>5800</c:v>
                </c:pt>
                <c:pt idx="2">
                  <c:v>4500</c:v>
                </c:pt>
                <c:pt idx="3">
                  <c:v>1700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137-40AB-893A-D956B6EF4B1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2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7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2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83508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55417-A342-6EA0-360A-3AEAD963C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3D8425-7222-E6EE-7CFF-0A31979318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B3D564-3D60-F8E6-ABEF-1BC99AC57A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2D71EF-4DAC-1B4F-A027-AA908BBBDF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0183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7B9C8-8CB1-55BF-6592-537F96D1A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3F2245-F4E3-9129-CA2D-8A1B3F0F9A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E943AC-C54D-47EE-279B-703E036E19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FE9738-CB21-38BA-5609-78E5793C4F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0258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C6C09-E5D3-F78B-3BA0-71C642A2B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2A78CD-5735-BD12-BEC7-9D7AC42A88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D73ABA-6F5D-1AA2-0762-18E75B2A0D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C9819C-BF19-9C15-C768-F6B0969320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6879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AC381-C90F-EBA9-2B6E-3F7597480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53771C-A2C1-2311-34E8-3E5C33B71B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B8A54D-F75B-2EA9-F71E-F08D9B64FE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CBCFF2-BDD8-D25D-E28E-B5725964FA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7258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CD62B-5950-BF0B-6B8B-EAD6E04D2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21BCD8-8C1B-F23D-5318-BF5F779AF6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35F7B0-8307-DE92-AD45-68C64936EF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CEAE51-BD20-32B1-C955-D21A137ECC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0185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FF55F-5919-BDE7-C769-DF4C22BE4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8D4F18-FD0C-14F3-3ACB-D72386ACD6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A887ED-87CA-39C8-0BEF-91A34AD5F1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6828AE-C2F0-D613-5CF2-9C47D068E4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6474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CFD86-D58D-2DDE-2024-BDD8C03DE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EF0B45-F258-DC8C-51A7-DBDB898D24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DD6E93-E319-518C-645D-CE9B8AE23D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94C2E1-48FF-E7E1-D3FD-34C50770E1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49509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66FAD-083F-50D9-3349-BC8DE0F5B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BE6416-82D6-E3E6-4CA3-AB017AF567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E4BC1C-0FEC-A06C-4D40-4C6F1AD24C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02CF6C-9FF4-A6AC-BDCA-1CBCF124F1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51957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B049E-6BFA-B9DA-C25B-51D0D2FE2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6A7A50-05FF-E61F-9C14-F7AA81C272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6ED7C4-A999-5711-3DD6-D74AFDFFBF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72D234-0685-CA43-DDE6-3E58521846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67421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E251D-2D16-A0EC-42CD-AF1CAE768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3D6030-A0CE-5102-D233-784618A4DC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05E0BF-6E5B-49D4-CB8A-C6FFE318BF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A9C356-9A9B-2737-AA22-AB29B3ABDA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98083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EA94A-1132-3A2A-BFE8-9A7342747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3E6DB7-0903-1B86-C4A6-D2AD12F809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722F13-1C2D-3AD9-9E7F-92C40BFC65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6C43B3-D5B1-82C3-1D77-D0122F63D2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88666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6EE3E-65A1-2E31-5DD1-B9802A838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2CF668-5033-D52B-9A94-EC3920E262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CB19E9-6888-9EE0-8B73-447C14BE49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507A31-1EFD-2297-FA64-ED81D076EE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18983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486400" cy="5486400"/>
          </a:xfrm>
          <a:prstGeom prst="ellipse">
            <a:avLst/>
          </a:prstGeom>
          <a:solidFill>
            <a:srgbClr val="3C4A8C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2011680" y="4572000"/>
            <a:ext cx="4572000" cy="4572000"/>
          </a:xfrm>
          <a:prstGeom prst="ellipse">
            <a:avLst/>
          </a:prstGeom>
          <a:solidFill>
            <a:srgbClr val="D64550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SAFETY ANALYTICS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Analysis of Road Traffic Accident in USA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4747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tool-by-tool walkthrough: Excel, SQL, Python (AI Agent) &amp; Power BI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206240"/>
            <a:ext cx="2011680" cy="0"/>
          </a:xfrm>
          <a:prstGeom prst="line">
            <a:avLst/>
          </a:prstGeom>
          <a:noFill/>
          <a:ln w="38100">
            <a:solidFill>
              <a:srgbClr val="D64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22960" y="4434840"/>
            <a:ext cx="845820" cy="384048"/>
          </a:xfrm>
          <a:prstGeom prst="roundRect">
            <a:avLst>
              <a:gd name="adj" fmla="val 19048"/>
            </a:avLst>
          </a:prstGeom>
          <a:solidFill>
            <a:srgbClr val="1E71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4434840"/>
            <a:ext cx="8458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851660" y="4434840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1F5F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851660" y="443484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406140" y="4434840"/>
            <a:ext cx="2107692" cy="384048"/>
          </a:xfrm>
          <a:prstGeom prst="roundRect">
            <a:avLst>
              <a:gd name="adj" fmla="val 19048"/>
            </a:avLst>
          </a:prstGeom>
          <a:solidFill>
            <a:srgbClr val="7A4F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06140" y="4434840"/>
            <a:ext cx="21076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(AI Agent)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96712" y="4434840"/>
            <a:ext cx="1161288" cy="384048"/>
          </a:xfrm>
          <a:prstGeom prst="roundRect">
            <a:avLst>
              <a:gd name="adj" fmla="val 19048"/>
            </a:avLst>
          </a:prstGeom>
          <a:solidFill>
            <a:srgbClr val="D645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696712" y="4434840"/>
            <a:ext cx="11612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32485" y="5074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21,183 accidents   |   11 states   |   Jan 2016 – Jan 2017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6263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Project  •  Discussion Presentation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 — tool by tool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0607040" cy="685800"/>
          </a:xfrm>
          <a:prstGeom prst="roundRect">
            <a:avLst>
              <a:gd name="adj" fmla="val 10667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09728" cy="685800"/>
          </a:xfrm>
          <a:prstGeom prst="round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737360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737360" y="18288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Objective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737360" y="2121408"/>
            <a:ext cx="9052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analysis matters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551176"/>
            <a:ext cx="10607040" cy="685800"/>
          </a:xfrm>
          <a:prstGeom prst="roundRect">
            <a:avLst>
              <a:gd name="adj" fmla="val 10667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2551176"/>
            <a:ext cx="109728" cy="685800"/>
          </a:xfrm>
          <a:prstGeom prst="roundRect">
            <a:avLst/>
          </a:prstGeom>
          <a:solidFill>
            <a:srgbClr val="1E71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2551176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71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737360" y="2642616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— Data Cleaning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737360" y="2935224"/>
            <a:ext cx="9052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Standardizing the raw dataset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364992"/>
            <a:ext cx="10607040" cy="685800"/>
          </a:xfrm>
          <a:prstGeom prst="roundRect">
            <a:avLst>
              <a:gd name="adj" fmla="val 10667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48640" y="3364992"/>
            <a:ext cx="109728" cy="685800"/>
          </a:xfrm>
          <a:prstGeom prst="roundRect">
            <a:avLst/>
          </a:prstGeom>
          <a:solidFill>
            <a:srgbClr val="1F5F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68680" y="3364992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5F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737360" y="3456432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— Server-Side Analysis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737360" y="3749040"/>
            <a:ext cx="9052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analytical table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178808"/>
            <a:ext cx="10607040" cy="685800"/>
          </a:xfrm>
          <a:prstGeom prst="roundRect">
            <a:avLst>
              <a:gd name="adj" fmla="val 10667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48640" y="4178808"/>
            <a:ext cx="109728" cy="685800"/>
          </a:xfrm>
          <a:prstGeom prst="roundRect">
            <a:avLst/>
          </a:prstGeom>
          <a:solidFill>
            <a:srgbClr val="7A4F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68680" y="4178808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A4F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737360" y="4270248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AI Query Agent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737360" y="4562856"/>
            <a:ext cx="9052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natural-language assistant over the data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992624"/>
            <a:ext cx="10607040" cy="685800"/>
          </a:xfrm>
          <a:prstGeom prst="roundRect">
            <a:avLst>
              <a:gd name="adj" fmla="val 10667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48640" y="4992624"/>
            <a:ext cx="109728" cy="685800"/>
          </a:xfrm>
          <a:prstGeom prst="roundRect">
            <a:avLst/>
          </a:prstGeom>
          <a:solidFill>
            <a:srgbClr val="D645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68680" y="4992624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737360" y="5084064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— Dashboard &amp; Findings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737360" y="5376672"/>
            <a:ext cx="9052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severity, geography &amp; time patterns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OBJECTIVE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raw accident records into safety decisions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0350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 Accidents dataset (Kaggle) covers Feb 2016 – Mar 2023 nationwide. For this project, a Jan 2016 – Jan 2017 slice was cleaned, structured and loaded into Power BI — 21,183 accident records across 11 states — to surface patterns that support road-safety planning. The work spans four tools, each handling a different stage of the pipeline.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931920"/>
            <a:ext cx="128016" cy="128016"/>
          </a:xfrm>
          <a:prstGeom prst="ellipse">
            <a:avLst/>
          </a:prstGeom>
          <a:solidFill>
            <a:srgbClr val="D645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37947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states and cities carry the highest accident volume?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4389120"/>
            <a:ext cx="128016" cy="128016"/>
          </a:xfrm>
          <a:prstGeom prst="ellipse">
            <a:avLst/>
          </a:prstGeom>
          <a:solidFill>
            <a:srgbClr val="D645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42519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 accidents peak — by time slot and day/night?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4846320"/>
            <a:ext cx="128016" cy="128016"/>
          </a:xfrm>
          <a:prstGeom prst="ellipse">
            <a:avLst/>
          </a:prstGeom>
          <a:solidFill>
            <a:srgbClr val="D645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47091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road and weather factors show up most often?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5303520"/>
            <a:ext cx="128016" cy="128016"/>
          </a:xfrm>
          <a:prstGeom prst="ellipse">
            <a:avLst/>
          </a:prstGeom>
          <a:solidFill>
            <a:srgbClr val="D645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51663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severe are these accidents, and how are severity levels distributed?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040880" y="1600200"/>
            <a:ext cx="4480560" cy="4434840"/>
          </a:xfrm>
          <a:prstGeom prst="roundRect">
            <a:avLst>
              <a:gd name="adj" fmla="val 206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406640" y="18745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406640" y="2450592"/>
            <a:ext cx="201168" cy="201168"/>
          </a:xfrm>
          <a:prstGeom prst="ellipse">
            <a:avLst/>
          </a:prstGeom>
          <a:solidFill>
            <a:srgbClr val="1E71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26680" y="2377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726680" y="2706624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standardize raw columns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406640" y="3319272"/>
            <a:ext cx="201168" cy="201168"/>
          </a:xfrm>
          <a:prstGeom prst="ellipse">
            <a:avLst/>
          </a:prstGeom>
          <a:solidFill>
            <a:srgbClr val="1F5F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726680" y="3246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Server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726680" y="3575304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analytical table with T-SQL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406640" y="4187952"/>
            <a:ext cx="201168" cy="201168"/>
          </a:xfrm>
          <a:prstGeom prst="ellipse">
            <a:avLst/>
          </a:prstGeom>
          <a:solidFill>
            <a:srgbClr val="7A4F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726680" y="4114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(AI Agent)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726680" y="4443984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querying over the data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406640" y="5056632"/>
            <a:ext cx="201168" cy="201168"/>
          </a:xfrm>
          <a:prstGeom prst="ellipse">
            <a:avLst/>
          </a:prstGeom>
          <a:solidFill>
            <a:srgbClr val="D645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726680" y="4983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726680" y="5312664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3-page dashboard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406640" y="598932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21,183 records  •  11 states  •  Jan 2016 – Jan 2017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1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486400" cy="5486400"/>
          </a:xfrm>
          <a:prstGeom prst="ellipse">
            <a:avLst/>
          </a:prstGeom>
          <a:solidFill>
            <a:srgbClr val="1E7145">
              <a:alpha val="3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2011680" y="4572000"/>
            <a:ext cx="4572000" cy="4572000"/>
          </a:xfrm>
          <a:prstGeom prst="ellipse">
            <a:avLst/>
          </a:prstGeom>
          <a:solidFill>
            <a:srgbClr val="1E7145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" y="2743200"/>
            <a:ext cx="1371600" cy="1371600"/>
          </a:xfrm>
          <a:prstGeom prst="roundRect">
            <a:avLst>
              <a:gd name="adj" fmla="val 10000"/>
            </a:avLst>
          </a:prstGeom>
          <a:solidFill>
            <a:srgbClr val="1E71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468880" y="28803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423160" y="3246120"/>
            <a:ext cx="8869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 — Data Cleaning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— DATA CLEANING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Standardizing the dataset before analysis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0607040" cy="4425696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1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1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1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1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 &amp; Time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Start_Time, End_Time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Date/Time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analysis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Start_Lat, Start_Lng, Distance, Temperature, Wind_Speed, Visibility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Decimal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precision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Humidity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Whole Number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Percentage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Zipcode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Identifier / contains '-'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Boolean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Road feature columns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True/False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values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End_Lat, End_Lng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Empty &amp; redundant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values = 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relevant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Airport_Code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 of scope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Wind_Chill, Precipitation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Many null values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17220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was cleaned and standardized before building the dashboard to improve data quality, consistency, and analytical accuracy.</a:t>
            </a:r>
            <a:endParaRPr lang="en-US" sz="1050" dirty="0"/>
          </a:p>
        </p:txBody>
      </p:sp>
      <p:sp>
        <p:nvSpPr>
          <p:cNvPr id="4" name="Text 3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— DATA CLEANING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cleaning process delivered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166360" cy="1234440"/>
          </a:xfrm>
          <a:prstGeom prst="roundRect">
            <a:avLst>
              <a:gd name="adj" fmla="val 5926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2121408"/>
            <a:ext cx="457200" cy="457200"/>
          </a:xfrm>
          <a:prstGeom prst="ellipse">
            <a:avLst/>
          </a:prstGeom>
          <a:solidFill>
            <a:srgbClr val="1E71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2121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865376"/>
            <a:ext cx="4069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inconsistent data types.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89320" y="1737360"/>
            <a:ext cx="5166360" cy="1234440"/>
          </a:xfrm>
          <a:prstGeom prst="roundRect">
            <a:avLst>
              <a:gd name="adj" fmla="val 5926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217920" y="2121408"/>
            <a:ext cx="457200" cy="457200"/>
          </a:xfrm>
          <a:prstGeom prst="ellipse">
            <a:avLst/>
          </a:prstGeom>
          <a:solidFill>
            <a:srgbClr val="1E71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217920" y="2121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8000" y="1865376"/>
            <a:ext cx="4069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redundant and irrelevant columns.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154680"/>
            <a:ext cx="5166360" cy="1234440"/>
          </a:xfrm>
          <a:prstGeom prst="roundRect">
            <a:avLst>
              <a:gd name="adj" fmla="val 5926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77240" y="3538728"/>
            <a:ext cx="457200" cy="457200"/>
          </a:xfrm>
          <a:prstGeom prst="ellipse">
            <a:avLst/>
          </a:prstGeom>
          <a:solidFill>
            <a:srgbClr val="1E71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35387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17320" y="3282696"/>
            <a:ext cx="4069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null values by removing low-quality columns with excessive missing data.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89320" y="3154680"/>
            <a:ext cx="5166360" cy="1234440"/>
          </a:xfrm>
          <a:prstGeom prst="roundRect">
            <a:avLst>
              <a:gd name="adj" fmla="val 5926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217920" y="3538728"/>
            <a:ext cx="457200" cy="457200"/>
          </a:xfrm>
          <a:prstGeom prst="ellipse">
            <a:avLst/>
          </a:prstGeom>
          <a:solidFill>
            <a:srgbClr val="1E71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17920" y="35387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58000" y="3282696"/>
            <a:ext cx="4069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Eliminated empty and redundant fields.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572000"/>
            <a:ext cx="5166360" cy="1234440"/>
          </a:xfrm>
          <a:prstGeom prst="roundRect">
            <a:avLst>
              <a:gd name="adj" fmla="val 5926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77240" y="4956048"/>
            <a:ext cx="457200" cy="457200"/>
          </a:xfrm>
          <a:prstGeom prst="ellipse">
            <a:avLst/>
          </a:prstGeom>
          <a:solidFill>
            <a:srgbClr val="1E71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77240" y="4956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17320" y="4700016"/>
            <a:ext cx="4069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data consistency and reduced dataset size.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572000"/>
            <a:ext cx="5166360" cy="1234440"/>
          </a:xfrm>
          <a:prstGeom prst="roundRect">
            <a:avLst>
              <a:gd name="adj" fmla="val 5926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217920" y="4956048"/>
            <a:ext cx="457200" cy="457200"/>
          </a:xfrm>
          <a:prstGeom prst="ellipse">
            <a:avLst/>
          </a:prstGeom>
          <a:solidFill>
            <a:srgbClr val="1E71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217920" y="4956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858000" y="4700016"/>
            <a:ext cx="4069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the dataset for reliable analysis and interactive dashboard development.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1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486400" cy="5486400"/>
          </a:xfrm>
          <a:prstGeom prst="ellipse">
            <a:avLst/>
          </a:prstGeom>
          <a:solidFill>
            <a:srgbClr val="1F5FA8">
              <a:alpha val="3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2011680" y="4572000"/>
            <a:ext cx="4572000" cy="4572000"/>
          </a:xfrm>
          <a:prstGeom prst="ellipse">
            <a:avLst/>
          </a:prstGeom>
          <a:solidFill>
            <a:srgbClr val="1F5FA8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" y="2743200"/>
            <a:ext cx="1371600" cy="1371600"/>
          </a:xfrm>
          <a:prstGeom prst="roundRect">
            <a:avLst>
              <a:gd name="adj" fmla="val 10000"/>
            </a:avLst>
          </a:prstGeom>
          <a:solidFill>
            <a:srgbClr val="1F5F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468880" y="28803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423160" y="3246120"/>
            <a:ext cx="8869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Server — Analytical Workflow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51EB761E-6BEB-B522-C60A-94DF124749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26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167B9C4D-7744-03CD-B491-08EF5D36A9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1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486400" cy="5486400"/>
          </a:xfrm>
          <a:prstGeom prst="ellipse">
            <a:avLst/>
          </a:prstGeom>
          <a:solidFill>
            <a:srgbClr val="7A4FBF">
              <a:alpha val="3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2011680" y="4572000"/>
            <a:ext cx="4572000" cy="4572000"/>
          </a:xfrm>
          <a:prstGeom prst="ellipse">
            <a:avLst/>
          </a:prstGeom>
          <a:solidFill>
            <a:srgbClr val="7A4FBF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" y="2743200"/>
            <a:ext cx="1371600" cy="1371600"/>
          </a:xfrm>
          <a:prstGeom prst="roundRect">
            <a:avLst>
              <a:gd name="adj" fmla="val 10000"/>
            </a:avLst>
          </a:prstGeom>
          <a:solidFill>
            <a:srgbClr val="7A4F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468880" y="28803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423160" y="3246120"/>
            <a:ext cx="8869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— AI Query Agent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A4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AI QUERY AGENT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language models to agents that act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29000" cy="3931920"/>
          </a:xfrm>
          <a:prstGeom prst="roundRect">
            <a:avLst>
              <a:gd name="adj" fmla="val 2400"/>
            </a:avLst>
          </a:prstGeom>
          <a:solidFill>
            <a:srgbClr val="F5F7FB"/>
          </a:solidFill>
          <a:ln w="12700">
            <a:solidFill>
              <a:srgbClr val="D9CC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9659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7A4F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65176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 (LLM)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3383280"/>
            <a:ext cx="2971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model trained on vast text data — understands and generates human language for tasks like Q&amp;A, summarization and translation.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60520" y="1691640"/>
            <a:ext cx="3429000" cy="3931920"/>
          </a:xfrm>
          <a:prstGeom prst="roundRect">
            <a:avLst>
              <a:gd name="adj" fmla="val 2400"/>
            </a:avLst>
          </a:prstGeom>
          <a:solidFill>
            <a:srgbClr val="F5F7FB"/>
          </a:solidFill>
          <a:ln w="12700">
            <a:solidFill>
              <a:srgbClr val="D9CC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89120" y="19659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7A4F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8912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389120" y="265176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389120" y="3383280"/>
            <a:ext cx="2971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system that perceives, decides and acts to achieve a goal — it thinks, plans, and uses tools to interact with the outside world.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772400" y="1691640"/>
            <a:ext cx="3429000" cy="3931920"/>
          </a:xfrm>
          <a:prstGeom prst="roundRect">
            <a:avLst>
              <a:gd name="adj" fmla="val 2400"/>
            </a:avLst>
          </a:prstGeom>
          <a:solidFill>
            <a:srgbClr val="F5F7FB"/>
          </a:solidFill>
          <a:ln w="12700">
            <a:solidFill>
              <a:srgbClr val="D9CC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001000" y="19659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7A4F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00100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001000" y="265176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001000" y="3383280"/>
            <a:ext cx="2971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Crucial for extending an agent beyond language processing — they let it access external data (APIs), execute code, and query databases.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A4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AI QUERY AGENT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Agent: Traffic Accident AI Assistant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specialized AI agent for analyzing the US traffic accident data. It processes user questions in natural language, generates SQL, executes it against the database, and interprets the results into a clear answer.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5166360" cy="914400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2743200"/>
            <a:ext cx="457200" cy="457200"/>
          </a:xfrm>
          <a:prstGeom prst="ellipse">
            <a:avLst/>
          </a:prstGeom>
          <a:solidFill>
            <a:srgbClr val="7A4F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25880" y="251460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User Intent — determine if database access is needed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989320" y="2514600"/>
            <a:ext cx="5166360" cy="914400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172200" y="2743200"/>
            <a:ext cx="457200" cy="457200"/>
          </a:xfrm>
          <a:prstGeom prst="ellipse">
            <a:avLst/>
          </a:prstGeom>
          <a:solidFill>
            <a:srgbClr val="7A4F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17220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766560" y="251460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SQL Query — create a valid SELECT statement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566160"/>
            <a:ext cx="5166360" cy="914400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31520" y="3794760"/>
            <a:ext cx="457200" cy="457200"/>
          </a:xfrm>
          <a:prstGeom prst="ellipse">
            <a:avLst/>
          </a:prstGeom>
          <a:solidFill>
            <a:srgbClr val="7A4F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25880" y="356616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Query — run it through a read-only execute_sql tool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989320" y="3566160"/>
            <a:ext cx="5166360" cy="914400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172200" y="3794760"/>
            <a:ext cx="457200" cy="457200"/>
          </a:xfrm>
          <a:prstGeom prst="ellipse">
            <a:avLst/>
          </a:prstGeom>
          <a:solidFill>
            <a:srgbClr val="7A4F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17220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766560" y="356616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Results — read and interpret the returned rows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617720"/>
            <a:ext cx="5166360" cy="914400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31520" y="4846320"/>
            <a:ext cx="457200" cy="457200"/>
          </a:xfrm>
          <a:prstGeom prst="ellipse">
            <a:avLst/>
          </a:prstGeom>
          <a:solidFill>
            <a:srgbClr val="7A4F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31520" y="4846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325880" y="461772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Formulate Answer — produce a clear, concise final answer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989320" y="4617720"/>
            <a:ext cx="5166360" cy="914400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172200" y="4846320"/>
            <a:ext cx="457200" cy="457200"/>
          </a:xfrm>
          <a:prstGeom prst="ellipse">
            <a:avLst/>
          </a:prstGeom>
          <a:solidFill>
            <a:srgbClr val="7A4F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172200" y="4846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766560" y="461772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 — explain SQL errors and retry if possible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8640" y="612648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a lightweight, embedded SQLite database containing a single accidents table.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A4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AI QUERY AGENT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example 1.1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7726680" y="548640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1,697 unique cities — returned in natural language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31ED76F-072C-8513-8463-51E6374B98A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24937" y="1298448"/>
            <a:ext cx="9742124" cy="517550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C74FA3-EA66-E496-1CA7-8E375E845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5DAFADF-0304-A57F-B8B5-F938F1A061D3}"/>
              </a:ext>
            </a:extLst>
          </p:cNvPr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A4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AI QUERY AGENT</a:t>
            </a:r>
            <a:endParaRPr lang="en-US" sz="13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7DBADC5-C330-5088-301C-424A301837A1}"/>
              </a:ext>
            </a:extLst>
          </p:cNvPr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example 2.1</a:t>
            </a:r>
            <a:endParaRPr lang="en-US" sz="30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B6CEA496-6C94-9AEB-A8CB-98989EA024E7}"/>
              </a:ext>
            </a:extLst>
          </p:cNvPr>
          <p:cNvSpPr/>
          <p:nvPr/>
        </p:nvSpPr>
        <p:spPr>
          <a:xfrm>
            <a:off x="7726680" y="548640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1,697 unique cities — returned in natural language</a:t>
            </a:r>
            <a:endParaRPr lang="en-US" sz="115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EA830CB3-40D3-1FEF-FC9F-C54266DEDF21}"/>
              </a:ext>
            </a:extLst>
          </p:cNvPr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AC62E8E-D214-5553-8AD3-B1D2363CF1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937" y="1298448"/>
            <a:ext cx="9742125" cy="5175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9027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25F4F0-C6D3-9A4C-94FE-E1DCAFAB9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0D4632A-EB55-E719-8C2E-C75D98C22597}"/>
              </a:ext>
            </a:extLst>
          </p:cNvPr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A4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AI QUERY AGENT</a:t>
            </a:r>
            <a:endParaRPr lang="en-US" sz="13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2C66175-275C-CCFD-0ACE-0EFA535E0442}"/>
              </a:ext>
            </a:extLst>
          </p:cNvPr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example 2.2</a:t>
            </a:r>
            <a:endParaRPr lang="en-US" sz="30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E92F1C1E-2118-185C-4709-6129C071BE8B}"/>
              </a:ext>
            </a:extLst>
          </p:cNvPr>
          <p:cNvSpPr/>
          <p:nvPr/>
        </p:nvSpPr>
        <p:spPr>
          <a:xfrm>
            <a:off x="7726680" y="548640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1,697 unique cities — returned in natural language</a:t>
            </a:r>
            <a:endParaRPr lang="en-US" sz="115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94E4FDE7-7B3E-F643-C4C1-342DDF97DE1D}"/>
              </a:ext>
            </a:extLst>
          </p:cNvPr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E8D6D59-704F-5F48-C019-F07E75ECA9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24937" y="1298448"/>
            <a:ext cx="9742124" cy="5175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2545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31AE5D-A632-F876-7F70-82E488A5A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98B2154-50A2-EAE3-429B-4FC76EA32EB8}"/>
              </a:ext>
            </a:extLst>
          </p:cNvPr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A4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AI QUERY AGENT</a:t>
            </a:r>
            <a:endParaRPr lang="en-US" sz="13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CDF9256-345D-3DAF-37A4-0530454585D3}"/>
              </a:ext>
            </a:extLst>
          </p:cNvPr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example 3.1</a:t>
            </a:r>
            <a:endParaRPr lang="en-US" sz="30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3495F67F-1710-3544-40F3-8CF5AE2AA3D8}"/>
              </a:ext>
            </a:extLst>
          </p:cNvPr>
          <p:cNvSpPr/>
          <p:nvPr/>
        </p:nvSpPr>
        <p:spPr>
          <a:xfrm>
            <a:off x="7726680" y="548640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1,697 unique cities — returned in natural language</a:t>
            </a:r>
            <a:endParaRPr lang="en-US" sz="115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DB61BCDF-E63B-B57F-6596-76C1E64E3EC1}"/>
              </a:ext>
            </a:extLst>
          </p:cNvPr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72960CB-52C6-C531-02CE-6DF091AEB08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24937" y="1298448"/>
            <a:ext cx="9742124" cy="5175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6382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9AACBF-001E-5DFD-9F51-01C96C977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BDB344D-9E64-C1FE-2C1E-B1E9860C9969}"/>
              </a:ext>
            </a:extLst>
          </p:cNvPr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A4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AI QUERY AGENT</a:t>
            </a:r>
            <a:endParaRPr lang="en-US" sz="13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551664C-4DAA-5983-A77E-DDD88EA16AE3}"/>
              </a:ext>
            </a:extLst>
          </p:cNvPr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example 3.2</a:t>
            </a:r>
            <a:endParaRPr lang="en-US" sz="30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E616B1D2-F7F8-7653-60FC-6A9A6B1C6724}"/>
              </a:ext>
            </a:extLst>
          </p:cNvPr>
          <p:cNvSpPr/>
          <p:nvPr/>
        </p:nvSpPr>
        <p:spPr>
          <a:xfrm>
            <a:off x="7726680" y="548640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1,697 unique cities — returned in natural language</a:t>
            </a:r>
            <a:endParaRPr lang="en-US" sz="115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7366053C-4CA0-9867-A135-145121863FB4}"/>
              </a:ext>
            </a:extLst>
          </p:cNvPr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5ED6A9A-8F09-6B75-559A-CC9968C133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24938" y="1298448"/>
            <a:ext cx="9742122" cy="5175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0702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1B02EB-EF42-BA47-1FA1-23C021216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B59BB84-26B6-4CA7-2205-522826A3B975}"/>
              </a:ext>
            </a:extLst>
          </p:cNvPr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A4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AI QUERY AGENT</a:t>
            </a:r>
            <a:endParaRPr lang="en-US" sz="13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7824A9E-B798-9F46-0902-53DD11E55093}"/>
              </a:ext>
            </a:extLst>
          </p:cNvPr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example 3.3</a:t>
            </a:r>
            <a:endParaRPr lang="en-US" sz="30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3E7B5FFE-55E5-2658-468C-66B15B3EEEAD}"/>
              </a:ext>
            </a:extLst>
          </p:cNvPr>
          <p:cNvSpPr/>
          <p:nvPr/>
        </p:nvSpPr>
        <p:spPr>
          <a:xfrm>
            <a:off x="7726680" y="548640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1,697 unique cities — returned in natural language</a:t>
            </a:r>
            <a:endParaRPr lang="en-US" sz="115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69DABBC8-20A5-17D7-F038-B9C16D8949D7}"/>
              </a:ext>
            </a:extLst>
          </p:cNvPr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071CE34-4381-E96B-6C77-A8DFAE5DCCB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24938" y="1298448"/>
            <a:ext cx="9742122" cy="5175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8671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E0679B-DDA4-886F-D3D9-698DE044B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BB8DBE3-4DA7-82E8-EC22-2EB3BEDB18CB}"/>
              </a:ext>
            </a:extLst>
          </p:cNvPr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A4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AI QUERY AGENT</a:t>
            </a:r>
            <a:endParaRPr lang="en-US" sz="13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DDA9D7F-123B-7BC7-0DA1-9AB9D027AD4D}"/>
              </a:ext>
            </a:extLst>
          </p:cNvPr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example 3.4</a:t>
            </a:r>
            <a:endParaRPr lang="en-US" sz="30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2A11BC4C-639D-A288-7831-22130804C6B5}"/>
              </a:ext>
            </a:extLst>
          </p:cNvPr>
          <p:cNvSpPr/>
          <p:nvPr/>
        </p:nvSpPr>
        <p:spPr>
          <a:xfrm>
            <a:off x="7726680" y="548640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1,697 unique cities — returned in natural language</a:t>
            </a:r>
            <a:endParaRPr lang="en-US" sz="115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492F461B-AB3E-1233-9719-3B500D60F62B}"/>
              </a:ext>
            </a:extLst>
          </p:cNvPr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B364123-7506-13C7-843C-DA0C57286DB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24939" y="1298448"/>
            <a:ext cx="9742120" cy="5175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5128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7F6D42-AB95-BFF1-A454-09F5BF1BD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40A4E4B-BEA2-AADD-1FF4-7E02A39C732B}"/>
              </a:ext>
            </a:extLst>
          </p:cNvPr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A4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AI QUERY AGENT</a:t>
            </a:r>
            <a:endParaRPr lang="en-US" sz="13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B9BB7B1-8BDC-AC33-6B7E-E3B7E3092AB6}"/>
              </a:ext>
            </a:extLst>
          </p:cNvPr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example 4.1</a:t>
            </a:r>
            <a:endParaRPr lang="en-US" sz="30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2A35AE0A-6BC8-D8FE-CCB3-F1DF95F8439D}"/>
              </a:ext>
            </a:extLst>
          </p:cNvPr>
          <p:cNvSpPr/>
          <p:nvPr/>
        </p:nvSpPr>
        <p:spPr>
          <a:xfrm>
            <a:off x="7726680" y="548640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1,697 unique cities — returned in natural language</a:t>
            </a:r>
            <a:endParaRPr lang="en-US" sz="115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94249786-0045-16BA-C54A-43CABF6A6242}"/>
              </a:ext>
            </a:extLst>
          </p:cNvPr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4212EC8-9449-71B6-2F93-B0F6BBF2F4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24939" y="1298448"/>
            <a:ext cx="9742120" cy="5175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9485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8BE396-FA3D-045C-5E06-63BE6C258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2892C82-EF04-C6C1-B34B-011AA3A02E85}"/>
              </a:ext>
            </a:extLst>
          </p:cNvPr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A4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AI QUERY AGENT</a:t>
            </a:r>
            <a:endParaRPr lang="en-US" sz="13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8F91AB8-58E6-C20A-0341-BD5A4BB43615}"/>
              </a:ext>
            </a:extLst>
          </p:cNvPr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example 4.2</a:t>
            </a:r>
            <a:endParaRPr lang="en-US" sz="30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45AC1EB1-EA5F-E820-FED9-28659813DCBB}"/>
              </a:ext>
            </a:extLst>
          </p:cNvPr>
          <p:cNvSpPr/>
          <p:nvPr/>
        </p:nvSpPr>
        <p:spPr>
          <a:xfrm>
            <a:off x="7726680" y="548640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1,697 unique cities — returned in natural language</a:t>
            </a:r>
            <a:endParaRPr lang="en-US" sz="115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B72F74C3-295D-9534-CFCC-61972D7F9FF4}"/>
              </a:ext>
            </a:extLst>
          </p:cNvPr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BDD7B65-EB6C-37F6-107D-94CF4809CA1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24939" y="1298448"/>
            <a:ext cx="9742119" cy="5175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2554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7EB415-5023-BCB0-608A-E3F4FD581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B2BCA5C-856C-8AC1-9EB6-F4ADA01DF860}"/>
              </a:ext>
            </a:extLst>
          </p:cNvPr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A4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AI QUERY AGENT</a:t>
            </a:r>
            <a:endParaRPr lang="en-US" sz="13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47B5B58-88DC-E579-C1DF-6DB97F4AE74D}"/>
              </a:ext>
            </a:extLst>
          </p:cNvPr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example 4.3</a:t>
            </a:r>
            <a:endParaRPr lang="en-US" sz="30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1D4984CC-9DC8-E032-28F1-828558890135}"/>
              </a:ext>
            </a:extLst>
          </p:cNvPr>
          <p:cNvSpPr/>
          <p:nvPr/>
        </p:nvSpPr>
        <p:spPr>
          <a:xfrm>
            <a:off x="7726680" y="548640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1,697 unique cities — returned in natural language</a:t>
            </a:r>
            <a:endParaRPr lang="en-US" sz="115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996B6564-31A0-5F20-59B0-5B111467725C}"/>
              </a:ext>
            </a:extLst>
          </p:cNvPr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D52E71A-9524-454F-DC94-A9BC9A376D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24939" y="1298448"/>
            <a:ext cx="9742119" cy="517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8240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2227E4-2446-8B79-7829-053F12A5F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B13629A-8BBB-FF53-4C41-9F146048E191}"/>
              </a:ext>
            </a:extLst>
          </p:cNvPr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A4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AI QUERY AGENT</a:t>
            </a:r>
            <a:endParaRPr lang="en-US" sz="13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79EBEA0-8B72-9EE6-9C44-D0C2C41A3F15}"/>
              </a:ext>
            </a:extLst>
          </p:cNvPr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example 4.4</a:t>
            </a:r>
            <a:endParaRPr lang="en-US" sz="30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7D447B1B-C7DE-7829-D742-4C4DA18A0CF0}"/>
              </a:ext>
            </a:extLst>
          </p:cNvPr>
          <p:cNvSpPr/>
          <p:nvPr/>
        </p:nvSpPr>
        <p:spPr>
          <a:xfrm>
            <a:off x="7726680" y="548640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1,697 unique cities — returned in natural language</a:t>
            </a:r>
            <a:endParaRPr lang="en-US" sz="115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722B78E4-A070-E778-B04C-8CD0DB1BD1F7}"/>
              </a:ext>
            </a:extLst>
          </p:cNvPr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9C43152-0D38-3FF0-5BC2-87A479BF1C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24940" y="1298448"/>
            <a:ext cx="9742117" cy="517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9942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F89B83-31AC-EF07-57DE-EBCD0485A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D2CE2AA-A806-CAC3-184F-A37923FF7905}"/>
              </a:ext>
            </a:extLst>
          </p:cNvPr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A4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AI QUERY AGENT</a:t>
            </a:r>
            <a:endParaRPr lang="en-US" sz="13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AD88D12-2257-8061-B1E1-8D7561801C1B}"/>
              </a:ext>
            </a:extLst>
          </p:cNvPr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example 4.5</a:t>
            </a:r>
            <a:endParaRPr lang="en-US" sz="30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1620AC66-E248-8227-0A00-FA4542D235DC}"/>
              </a:ext>
            </a:extLst>
          </p:cNvPr>
          <p:cNvSpPr/>
          <p:nvPr/>
        </p:nvSpPr>
        <p:spPr>
          <a:xfrm>
            <a:off x="7726680" y="548640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1,697 unique cities — returned in natural language</a:t>
            </a:r>
            <a:endParaRPr lang="en-US" sz="115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91E9E9D8-B235-1492-AC5D-D9BA31717771}"/>
              </a:ext>
            </a:extLst>
          </p:cNvPr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834FCB8-DF7F-208E-3D50-3AB546F6D3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24940" y="1298448"/>
            <a:ext cx="9742117" cy="5175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9805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555E81-DD49-DE99-D0A4-7151A93C3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09557A0-76A1-F45B-1A5B-D7FA2B961426}"/>
              </a:ext>
            </a:extLst>
          </p:cNvPr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A4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AI QUERY AGENT</a:t>
            </a:r>
            <a:endParaRPr lang="en-US" sz="13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605A9C1-A6E8-9687-B636-B4D15D85874F}"/>
              </a:ext>
            </a:extLst>
          </p:cNvPr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example 4.6</a:t>
            </a:r>
            <a:endParaRPr lang="en-US" sz="30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51ADEC53-05CB-D167-B44E-E3C01435F72E}"/>
              </a:ext>
            </a:extLst>
          </p:cNvPr>
          <p:cNvSpPr/>
          <p:nvPr/>
        </p:nvSpPr>
        <p:spPr>
          <a:xfrm>
            <a:off x="7726680" y="548640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1,697 unique cities — returned in natural language</a:t>
            </a:r>
            <a:endParaRPr lang="en-US" sz="115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693583B2-2A4C-3BBC-16AA-A593952AE6E9}"/>
              </a:ext>
            </a:extLst>
          </p:cNvPr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6BBDAA3-F5A7-5CE0-1820-CA085C9A51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24941" y="1298448"/>
            <a:ext cx="9742115" cy="5175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2696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A4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AI QUERY AGENT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an AI agent on top of the data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66360" cy="960120"/>
          </a:xfrm>
          <a:prstGeom prst="roundRect">
            <a:avLst>
              <a:gd name="adj" fmla="val 7619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Data Access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112264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queries for non-SQL users.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989320" y="1691640"/>
            <a:ext cx="5166360" cy="960120"/>
          </a:xfrm>
          <a:prstGeom prst="roundRect">
            <a:avLst>
              <a:gd name="adj" fmla="val 7619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217920" y="178308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Analysis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0" y="2112264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processing of complex questions and responses.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834640"/>
            <a:ext cx="5166360" cy="960120"/>
          </a:xfrm>
          <a:prstGeom prst="roundRect">
            <a:avLst>
              <a:gd name="adj" fmla="val 7619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292608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Information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3255264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SQL tool ensures data integrity.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89320" y="2834640"/>
            <a:ext cx="5166360" cy="960120"/>
          </a:xfrm>
          <a:prstGeom prst="roundRect">
            <a:avLst>
              <a:gd name="adj" fmla="val 7619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17920" y="292608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Decision-Making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3255264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insights for road safety.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5166360" cy="960120"/>
          </a:xfrm>
          <a:prstGeom prst="roundRect">
            <a:avLst>
              <a:gd name="adj" fmla="val 7619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240" y="406908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4398264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Adaptable to other databases and analytical domains.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5532120"/>
            <a:ext cx="10607040" cy="960120"/>
          </a:xfrm>
          <a:prstGeom prst="roundRect">
            <a:avLst>
              <a:gd name="adj" fmla="val 8571"/>
            </a:avLst>
          </a:prstGeom>
          <a:solidFill>
            <a:srgbClr val="7A4F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68680" y="5669280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agents, LLMs and specialized tools offer a robust data-analysis solution — this agent provides direct, conversational insight into traffic accidents for informed decision-making.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31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486400" cy="5486400"/>
          </a:xfrm>
          <a:prstGeom prst="ellipse">
            <a:avLst/>
          </a:prstGeom>
          <a:solidFill>
            <a:srgbClr val="D64550">
              <a:alpha val="3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2011680" y="4572000"/>
            <a:ext cx="4572000" cy="4572000"/>
          </a:xfrm>
          <a:prstGeom prst="ellipse">
            <a:avLst/>
          </a:prstGeom>
          <a:solidFill>
            <a:srgbClr val="D64550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" y="2743200"/>
            <a:ext cx="1371600" cy="1371600"/>
          </a:xfrm>
          <a:prstGeom prst="roundRect">
            <a:avLst>
              <a:gd name="adj" fmla="val 10000"/>
            </a:avLst>
          </a:prstGeom>
          <a:solidFill>
            <a:srgbClr val="D645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468880" y="28803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423160" y="3246120"/>
            <a:ext cx="8869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— Dashboard &amp; Findings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31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— KPI 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numbers behind the dashboard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383280" cy="1920240"/>
          </a:xfrm>
          <a:prstGeom prst="roundRect">
            <a:avLst>
              <a:gd name="adj" fmla="val 4762"/>
            </a:avLst>
          </a:prstGeom>
          <a:solidFill>
            <a:srgbClr val="3C4A8C">
              <a:alpha val="75000"/>
            </a:srgbClr>
          </a:solidFill>
          <a:ln w="95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20574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21,183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ACCIDENTS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114800" y="1783080"/>
            <a:ext cx="3383280" cy="1920240"/>
          </a:xfrm>
          <a:prstGeom prst="roundRect">
            <a:avLst>
              <a:gd name="adj" fmla="val 4762"/>
            </a:avLst>
          </a:prstGeom>
          <a:solidFill>
            <a:srgbClr val="3C4A8C">
              <a:alpha val="75000"/>
            </a:srgbClr>
          </a:solidFill>
          <a:ln w="95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97680" y="20574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2.35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297680" y="29260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SEVERITY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680960" y="1783080"/>
            <a:ext cx="3383280" cy="1920240"/>
          </a:xfrm>
          <a:prstGeom prst="roundRect">
            <a:avLst>
              <a:gd name="adj" fmla="val 4762"/>
            </a:avLst>
          </a:prstGeom>
          <a:solidFill>
            <a:srgbClr val="3C4A8C">
              <a:alpha val="75000"/>
            </a:srgbClr>
          </a:solidFill>
          <a:ln w="95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863840" y="20574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39.0 min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863840" y="29260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DURATION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3383280" cy="1920240"/>
          </a:xfrm>
          <a:prstGeom prst="roundRect">
            <a:avLst>
              <a:gd name="adj" fmla="val 4762"/>
            </a:avLst>
          </a:prstGeom>
          <a:solidFill>
            <a:srgbClr val="3C4A8C">
              <a:alpha val="75000"/>
            </a:srgbClr>
          </a:solidFill>
          <a:ln w="95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420624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55.86%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31520" y="50749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SHARE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114800" y="3931920"/>
            <a:ext cx="3383280" cy="1920240"/>
          </a:xfrm>
          <a:prstGeom prst="roundRect">
            <a:avLst>
              <a:gd name="adj" fmla="val 4762"/>
            </a:avLst>
          </a:prstGeom>
          <a:solidFill>
            <a:srgbClr val="3C4A8C">
              <a:alpha val="75000"/>
            </a:srgbClr>
          </a:solidFill>
          <a:ln w="95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297680" y="420624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44.14%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297680" y="50749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 SHARE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680960" y="3931920"/>
            <a:ext cx="3383280" cy="1920240"/>
          </a:xfrm>
          <a:prstGeom prst="roundRect">
            <a:avLst>
              <a:gd name="adj" fmla="val 4762"/>
            </a:avLst>
          </a:prstGeom>
          <a:solidFill>
            <a:srgbClr val="3C4A8C">
              <a:alpha val="75000"/>
            </a:srgbClr>
          </a:solidFill>
          <a:ln w="95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863840" y="420624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7863840" y="50749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REPRESENTED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617220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— SEVERITY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Severity 2 dominates this sample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45920"/>
          <a:ext cx="658368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7452360" y="14173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641080" y="14173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0104120" y="14173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360920" y="1737360"/>
            <a:ext cx="4251960" cy="566928"/>
          </a:xfrm>
          <a:prstGeom prst="roundRect">
            <a:avLst>
              <a:gd name="adj" fmla="val 9677"/>
            </a:avLst>
          </a:prstGeom>
          <a:solidFill>
            <a:srgbClr val="FDEB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452360" y="1737360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641080" y="1737360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104120" y="1737360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0.05%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360920" y="2423160"/>
            <a:ext cx="4251960" cy="566928"/>
          </a:xfrm>
          <a:prstGeom prst="roundRect">
            <a:avLst>
              <a:gd name="adj" fmla="val 9677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452360" y="2423160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641080" y="2423160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13,685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104120" y="2423160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64.61%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360920" y="3108960"/>
            <a:ext cx="4251960" cy="566928"/>
          </a:xfrm>
          <a:prstGeom prst="roundRect">
            <a:avLst>
              <a:gd name="adj" fmla="val 9677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452360" y="3108960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641080" y="3108960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7,479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104120" y="3108960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35.31%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360920" y="3794760"/>
            <a:ext cx="4251960" cy="566928"/>
          </a:xfrm>
          <a:prstGeom prst="roundRect">
            <a:avLst>
              <a:gd name="adj" fmla="val 9677"/>
            </a:avLst>
          </a:prstGeom>
          <a:solidFill>
            <a:srgbClr val="FDEB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7452360" y="3794760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8641080" y="3794760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0104120" y="3794760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0.04%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360920" y="461772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1 and 4 combined make up just 0.09% of this sample (19 of 21,183 records) — too rare here to generalize confidently.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— GEOGRAPHIC DISTRIBUTION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Michigan, California and Illinois lead this sample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45920"/>
          <a:ext cx="106070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98932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— GEOGRAPHIC DISTRIBUTION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Michigan cities dominate the city-level 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49440" cy="457200"/>
          </a:xfrm>
          <a:prstGeom prst="roundRect">
            <a:avLst>
              <a:gd name="adj" fmla="val 12000"/>
            </a:avLst>
          </a:prstGeom>
          <a:solidFill>
            <a:srgbClr val="F5F7FB"/>
          </a:solidFill>
          <a:ln w="9525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6916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Rapids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0" y="16916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258568"/>
            <a:ext cx="69494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2258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225856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Omaha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0" y="225856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825496"/>
            <a:ext cx="6949440" cy="457200"/>
          </a:xfrm>
          <a:prstGeom prst="roundRect">
            <a:avLst>
              <a:gd name="adj" fmla="val 12000"/>
            </a:avLst>
          </a:prstGeom>
          <a:solidFill>
            <a:srgbClr val="F5F7FB"/>
          </a:solidFill>
          <a:ln w="9525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" y="28254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2825496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0" y="2825496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392424"/>
            <a:ext cx="69494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5800" y="33924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392424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Detroit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0" y="3392424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959352"/>
            <a:ext cx="6949440" cy="457200"/>
          </a:xfrm>
          <a:prstGeom prst="roundRect">
            <a:avLst>
              <a:gd name="adj" fmla="val 12000"/>
            </a:avLst>
          </a:prstGeom>
          <a:solidFill>
            <a:srgbClr val="F5F7FB"/>
          </a:solidFill>
          <a:ln w="9525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5800" y="39593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34440" y="395935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Atlanta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0" y="395935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526280"/>
            <a:ext cx="69494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85800" y="4526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34440" y="45262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Newhall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943600" y="45262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5093208"/>
            <a:ext cx="6949440" cy="457200"/>
          </a:xfrm>
          <a:prstGeom prst="roundRect">
            <a:avLst>
              <a:gd name="adj" fmla="val 12000"/>
            </a:avLst>
          </a:prstGeom>
          <a:solidFill>
            <a:srgbClr val="F5F7FB"/>
          </a:solidFill>
          <a:ln w="9525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85800" y="50932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234440" y="509320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Elgin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943600" y="509320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818120" y="1691640"/>
            <a:ext cx="3703320" cy="3977640"/>
          </a:xfrm>
          <a:prstGeom prst="roundRect">
            <a:avLst>
              <a:gd name="adj" fmla="val 246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092440" y="19659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RANKING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092440" y="2423160"/>
            <a:ext cx="3154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ranking mirrors the order shown in the dashboard's Top Cities chart. Exact per-city counts aren’t labeled on that chart — they’re available by hovering in the live Power BI report rather than being restated here as approximations.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092440" y="4480560"/>
            <a:ext cx="3154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the top 7 cities are in Michigan — consistent with MI also being the top state overall.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— TIME PATTERNS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Morning is the highest-risk time slot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45920"/>
          <a:ext cx="612648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6995160" y="1691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VS NIGHT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995160" y="2103120"/>
            <a:ext cx="4617720" cy="1417320"/>
          </a:xfrm>
          <a:prstGeom prst="roundRect">
            <a:avLst>
              <a:gd name="adj" fmla="val 5161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178040" y="22402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55.86%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178040" y="27889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326880" y="22402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44.14%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9326880" y="27889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995160" y="3794760"/>
            <a:ext cx="4617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alone accounts for 43% of accidents in this sample — more than afternoon and evening combined relative share, and over 5x the night share.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48640" y="598932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 1 —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060704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assets/dashboard_page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1737360"/>
            <a:ext cx="10332720" cy="4389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 2 — Geography</a:t>
            </a:r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060704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assets/dashboard_page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1737360"/>
            <a:ext cx="10332720" cy="4389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 3 — Factors &amp; Severity</a:t>
            </a:r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060704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assets/dashboard_page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1737360"/>
            <a:ext cx="10332720" cy="4389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people behind this project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600200"/>
            <a:ext cx="2480310" cy="2130000"/>
          </a:xfrm>
          <a:prstGeom prst="roundRect">
            <a:avLst>
              <a:gd name="adj" fmla="val 5926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Avatar"/>
          <p:cNvSpPr/>
          <p:nvPr/>
        </p:nvSpPr>
        <p:spPr>
          <a:xfrm>
            <a:off x="1338795" y="1828800"/>
            <a:ext cx="900000" cy="900000"/>
          </a:xfrm>
          <a:prstGeom prst="ellipse">
            <a:avLst/>
          </a:prstGeom>
          <a:solidFill>
            <a:srgbClr val="D645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Initials"/>
          <p:cNvSpPr/>
          <p:nvPr/>
        </p:nvSpPr>
        <p:spPr>
          <a:xfrm>
            <a:off x="1338795" y="1828800"/>
            <a:ext cx="900000" cy="9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ZG</a:t>
            </a:r>
            <a:endParaRPr lang="en-US" sz="1600" dirty="0"/>
          </a:p>
        </p:txBody>
      </p:sp>
      <p:sp>
        <p:nvSpPr>
          <p:cNvPr id="7" name="Name"/>
          <p:cNvSpPr/>
          <p:nvPr/>
        </p:nvSpPr>
        <p:spPr>
          <a:xfrm>
            <a:off x="548640" y="2865960"/>
            <a:ext cx="248031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Ziad Ghallab</a:t>
            </a:r>
            <a:endParaRPr lang="en-US" sz="1200" dirty="0"/>
          </a:p>
        </p:txBody>
      </p:sp>
      <p:sp>
        <p:nvSpPr>
          <p:cNvPr id="8" name="Role"/>
          <p:cNvSpPr/>
          <p:nvPr/>
        </p:nvSpPr>
        <p:spPr>
          <a:xfrm>
            <a:off x="548640" y="3231720"/>
            <a:ext cx="248031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</a:t>
            </a:r>
            <a:endParaRPr lang="en-US" sz="1000" dirty="0"/>
          </a:p>
        </p:txBody>
      </p:sp>
      <p:sp>
        <p:nvSpPr>
          <p:cNvPr id="9" name="Card"/>
          <p:cNvSpPr/>
          <p:nvPr/>
        </p:nvSpPr>
        <p:spPr>
          <a:xfrm>
            <a:off x="3257550" y="1600200"/>
            <a:ext cx="2480310" cy="2130000"/>
          </a:xfrm>
          <a:prstGeom prst="roundRect">
            <a:avLst>
              <a:gd name="adj" fmla="val 5926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Avatar"/>
          <p:cNvSpPr/>
          <p:nvPr/>
        </p:nvSpPr>
        <p:spPr>
          <a:xfrm>
            <a:off x="4047705" y="1828800"/>
            <a:ext cx="900000" cy="9000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Initials"/>
          <p:cNvSpPr/>
          <p:nvPr/>
        </p:nvSpPr>
        <p:spPr>
          <a:xfrm>
            <a:off x="4047705" y="1828800"/>
            <a:ext cx="900000" cy="9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</a:t>
            </a:r>
            <a:endParaRPr lang="en-US" sz="1600" dirty="0"/>
          </a:p>
        </p:txBody>
      </p:sp>
      <p:sp>
        <p:nvSpPr>
          <p:cNvPr id="12" name="Name"/>
          <p:cNvSpPr/>
          <p:nvPr/>
        </p:nvSpPr>
        <p:spPr>
          <a:xfrm>
            <a:off x="3257550" y="2865960"/>
            <a:ext cx="248031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Abdelrahman Talaat</a:t>
            </a:r>
            <a:endParaRPr lang="en-US" sz="1200" dirty="0"/>
          </a:p>
        </p:txBody>
      </p:sp>
      <p:sp>
        <p:nvSpPr>
          <p:cNvPr id="13" name="Card"/>
          <p:cNvSpPr/>
          <p:nvPr/>
        </p:nvSpPr>
        <p:spPr>
          <a:xfrm>
            <a:off x="5966460" y="1600200"/>
            <a:ext cx="2480310" cy="2130000"/>
          </a:xfrm>
          <a:prstGeom prst="roundRect">
            <a:avLst>
              <a:gd name="adj" fmla="val 5926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Avatar"/>
          <p:cNvSpPr/>
          <p:nvPr/>
        </p:nvSpPr>
        <p:spPr>
          <a:xfrm>
            <a:off x="6756615" y="1828800"/>
            <a:ext cx="900000" cy="9000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Initials"/>
          <p:cNvSpPr/>
          <p:nvPr/>
        </p:nvSpPr>
        <p:spPr>
          <a:xfrm>
            <a:off x="6756615" y="1828800"/>
            <a:ext cx="900000" cy="9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</a:t>
            </a:r>
            <a:endParaRPr lang="en-US" sz="1600" dirty="0"/>
          </a:p>
        </p:txBody>
      </p:sp>
      <p:sp>
        <p:nvSpPr>
          <p:cNvPr id="16" name="Name"/>
          <p:cNvSpPr/>
          <p:nvPr/>
        </p:nvSpPr>
        <p:spPr>
          <a:xfrm>
            <a:off x="5966460" y="2865960"/>
            <a:ext cx="248031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Salma Ahmed</a:t>
            </a:r>
            <a:endParaRPr lang="en-US" sz="1200" dirty="0"/>
          </a:p>
        </p:txBody>
      </p:sp>
      <p:sp>
        <p:nvSpPr>
          <p:cNvPr id="17" name="Card"/>
          <p:cNvSpPr/>
          <p:nvPr/>
        </p:nvSpPr>
        <p:spPr>
          <a:xfrm>
            <a:off x="8675370" y="1600200"/>
            <a:ext cx="2480310" cy="2130000"/>
          </a:xfrm>
          <a:prstGeom prst="roundRect">
            <a:avLst>
              <a:gd name="adj" fmla="val 5926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Avatar"/>
          <p:cNvSpPr/>
          <p:nvPr/>
        </p:nvSpPr>
        <p:spPr>
          <a:xfrm>
            <a:off x="9465525" y="1828800"/>
            <a:ext cx="900000" cy="9000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Initials"/>
          <p:cNvSpPr/>
          <p:nvPr/>
        </p:nvSpPr>
        <p:spPr>
          <a:xfrm>
            <a:off x="9465525" y="1828800"/>
            <a:ext cx="900000" cy="9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</a:t>
            </a:r>
            <a:endParaRPr lang="en-US" sz="1600" dirty="0"/>
          </a:p>
        </p:txBody>
      </p:sp>
      <p:sp>
        <p:nvSpPr>
          <p:cNvPr id="20" name="Name"/>
          <p:cNvSpPr/>
          <p:nvPr/>
        </p:nvSpPr>
        <p:spPr>
          <a:xfrm>
            <a:off x="8675370" y="2865960"/>
            <a:ext cx="248031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Eslam Ahmed</a:t>
            </a:r>
            <a:endParaRPr lang="en-US" sz="1200" dirty="0"/>
          </a:p>
        </p:txBody>
      </p:sp>
      <p:sp>
        <p:nvSpPr>
          <p:cNvPr id="21" name="Card"/>
          <p:cNvSpPr/>
          <p:nvPr/>
        </p:nvSpPr>
        <p:spPr>
          <a:xfrm>
            <a:off x="1903095" y="3958800"/>
            <a:ext cx="2480310" cy="2130000"/>
          </a:xfrm>
          <a:prstGeom prst="roundRect">
            <a:avLst>
              <a:gd name="adj" fmla="val 5926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Avatar"/>
          <p:cNvSpPr/>
          <p:nvPr/>
        </p:nvSpPr>
        <p:spPr>
          <a:xfrm>
            <a:off x="2693250" y="4187400"/>
            <a:ext cx="900000" cy="9000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Initials"/>
          <p:cNvSpPr/>
          <p:nvPr/>
        </p:nvSpPr>
        <p:spPr>
          <a:xfrm>
            <a:off x="2693250" y="4187400"/>
            <a:ext cx="900000" cy="9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RT</a:t>
            </a:r>
            <a:endParaRPr lang="en-US" sz="1600" dirty="0"/>
          </a:p>
        </p:txBody>
      </p:sp>
      <p:sp>
        <p:nvSpPr>
          <p:cNvPr id="24" name="Name"/>
          <p:cNvSpPr/>
          <p:nvPr/>
        </p:nvSpPr>
        <p:spPr>
          <a:xfrm>
            <a:off x="1903095" y="5224560"/>
            <a:ext cx="248031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Retaj Tareq</a:t>
            </a:r>
            <a:endParaRPr lang="en-US" sz="1200" dirty="0"/>
          </a:p>
        </p:txBody>
      </p:sp>
      <p:sp>
        <p:nvSpPr>
          <p:cNvPr id="25" name="Card"/>
          <p:cNvSpPr/>
          <p:nvPr/>
        </p:nvSpPr>
        <p:spPr>
          <a:xfrm>
            <a:off x="4612005" y="3958800"/>
            <a:ext cx="2480310" cy="2130000"/>
          </a:xfrm>
          <a:prstGeom prst="roundRect">
            <a:avLst>
              <a:gd name="adj" fmla="val 5926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Avatar"/>
          <p:cNvSpPr/>
          <p:nvPr/>
        </p:nvSpPr>
        <p:spPr>
          <a:xfrm>
            <a:off x="5402160" y="4187400"/>
            <a:ext cx="900000" cy="9000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Initials"/>
          <p:cNvSpPr/>
          <p:nvPr/>
        </p:nvSpPr>
        <p:spPr>
          <a:xfrm>
            <a:off x="5402160" y="4187400"/>
            <a:ext cx="900000" cy="9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MM</a:t>
            </a:r>
            <a:endParaRPr lang="en-US" sz="1600" dirty="0"/>
          </a:p>
        </p:txBody>
      </p:sp>
      <p:sp>
        <p:nvSpPr>
          <p:cNvPr id="28" name="Name"/>
          <p:cNvSpPr/>
          <p:nvPr/>
        </p:nvSpPr>
        <p:spPr>
          <a:xfrm>
            <a:off x="4612005" y="5224560"/>
            <a:ext cx="248031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Malak Magdy</a:t>
            </a:r>
            <a:endParaRPr lang="en-US" sz="1200" dirty="0"/>
          </a:p>
        </p:txBody>
      </p:sp>
      <p:sp>
        <p:nvSpPr>
          <p:cNvPr id="29" name="Card"/>
          <p:cNvSpPr/>
          <p:nvPr/>
        </p:nvSpPr>
        <p:spPr>
          <a:xfrm>
            <a:off x="7320915" y="3958800"/>
            <a:ext cx="2480310" cy="2130000"/>
          </a:xfrm>
          <a:prstGeom prst="roundRect">
            <a:avLst>
              <a:gd name="adj" fmla="val 5926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Avatar"/>
          <p:cNvSpPr/>
          <p:nvPr/>
        </p:nvSpPr>
        <p:spPr>
          <a:xfrm>
            <a:off x="8111070" y="4187400"/>
            <a:ext cx="900000" cy="9000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Initials"/>
          <p:cNvSpPr/>
          <p:nvPr/>
        </p:nvSpPr>
        <p:spPr>
          <a:xfrm>
            <a:off x="8111070" y="4187400"/>
            <a:ext cx="900000" cy="9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YS</a:t>
            </a:r>
            <a:endParaRPr lang="en-US" sz="1600" dirty="0"/>
          </a:p>
        </p:txBody>
      </p:sp>
      <p:sp>
        <p:nvSpPr>
          <p:cNvPr id="32" name="Name"/>
          <p:cNvSpPr/>
          <p:nvPr/>
        </p:nvSpPr>
        <p:spPr>
          <a:xfrm>
            <a:off x="7320915" y="5224560"/>
            <a:ext cx="248031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Youssef Samy</a:t>
            </a:r>
            <a:endParaRPr lang="en-US" sz="1200" dirty="0"/>
          </a:p>
        </p:txBody>
      </p:sp>
      <p:sp>
        <p:nvSpPr>
          <p:cNvPr id="33" name="PageNum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31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3C4A8C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601200" y="4114800"/>
            <a:ext cx="4572000" cy="4572000"/>
          </a:xfrm>
          <a:prstGeom prst="ellipse">
            <a:avLst/>
          </a:prstGeom>
          <a:solidFill>
            <a:srgbClr val="D64550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246888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68680" y="3429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68680" y="4069080"/>
            <a:ext cx="2011680" cy="0"/>
          </a:xfrm>
          <a:prstGeom prst="line">
            <a:avLst/>
          </a:prstGeom>
          <a:noFill/>
          <a:ln w="38100">
            <a:solidFill>
              <a:srgbClr val="D64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Accidents Data Analysis  •  Excel, SQL Server, Python &amp; Power BI  •  Jan 2016 – Jan 2017 sample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1424</Words>
  <Application>Microsoft Office PowerPoint</Application>
  <PresentationFormat>Widescreen</PresentationFormat>
  <Paragraphs>358</Paragraphs>
  <Slides>37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Ziad Ghallab</cp:lastModifiedBy>
  <cp:revision>16</cp:revision>
  <dcterms:created xsi:type="dcterms:W3CDTF">2026-07-15T10:23:33Z</dcterms:created>
  <dcterms:modified xsi:type="dcterms:W3CDTF">2026-07-15T15:00:09Z</dcterms:modified>
</cp:coreProperties>
</file>